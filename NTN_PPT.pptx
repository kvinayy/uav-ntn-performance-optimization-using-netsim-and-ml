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1" r:id="rId7"/>
    <p:sldId id="262" r:id="rId8"/>
    <p:sldId id="265" r:id="rId9"/>
    <p:sldId id="266" r:id="rId10"/>
    <p:sldId id="268" r:id="rId11"/>
    <p:sldId id="269" r:id="rId12"/>
    <p:sldId id="272" r:id="rId13"/>
    <p:sldId id="270" r:id="rId14"/>
    <p:sldId id="271" r:id="rId15"/>
    <p:sldId id="267" r:id="rId16"/>
    <p:sldId id="274" r:id="rId17"/>
    <p:sldId id="275" r:id="rId18"/>
    <p:sldId id="276" r:id="rId19"/>
    <p:sldId id="286" r:id="rId20"/>
    <p:sldId id="283" r:id="rId21"/>
    <p:sldId id="284" r:id="rId22"/>
    <p:sldId id="285" r:id="rId23"/>
    <p:sldId id="277" r:id="rId24"/>
    <p:sldId id="279" r:id="rId25"/>
    <p:sldId id="278" r:id="rId26"/>
    <p:sldId id="287" r:id="rId27"/>
    <p:sldId id="280" r:id="rId28"/>
    <p:sldId id="281" r:id="rId29"/>
    <p:sldId id="28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ay Kusumanchi" userId="28a6c041d361e42c" providerId="LiveId" clId="{90B7095A-9631-4FC9-9217-B3584CC2C6B4}"/>
    <pc:docChg chg="undo redo custSel addSld delSld modSld sldOrd">
      <pc:chgData name="Vinay Kusumanchi" userId="28a6c041d361e42c" providerId="LiveId" clId="{90B7095A-9631-4FC9-9217-B3584CC2C6B4}" dt="2025-12-14T13:56:24.933" v="1400" actId="47"/>
      <pc:docMkLst>
        <pc:docMk/>
      </pc:docMkLst>
      <pc:sldChg chg="new del">
        <pc:chgData name="Vinay Kusumanchi" userId="28a6c041d361e42c" providerId="LiveId" clId="{90B7095A-9631-4FC9-9217-B3584CC2C6B4}" dt="2025-12-14T13:56:24.933" v="1400" actId="47"/>
        <pc:sldMkLst>
          <pc:docMk/>
          <pc:sldMk cId="2988085554" sldId="28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008DE-C08C-AFAF-DD23-66B6FEA1E7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75E6EE-C1A5-38BF-1B1B-37FC2D4D5E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E0A14-7C88-E600-CA40-C8B86F05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BC2A-E588-4E33-A53E-A416B375F52E}" type="datetimeFigureOut">
              <a:rPr lang="en-IN" smtClean="0"/>
              <a:t>14-12-2025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365EC-ED20-465C-8E2C-E93442BCE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61A76-91E2-2209-14CC-F5652B8C3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175D-3455-4E55-BE29-6A14F5271F8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209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7E5BE-7F32-A3E0-1545-AE49FAC36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EE36E-B60D-7E81-E7DD-86448E9BB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2F3C7-3FF7-4484-04A3-5797CF12F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BC2A-E588-4E33-A53E-A416B375F52E}" type="datetimeFigureOut">
              <a:rPr lang="en-IN" smtClean="0"/>
              <a:t>14-12-2025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565B8-B436-652B-DDAB-F2770EC00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291BE-69F8-1828-CF4E-3EF49793E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175D-3455-4E55-BE29-6A14F5271F8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6250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940EA-9CE9-FDCB-78B5-97A4E4418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ED8B2-3EA5-5D5A-B954-276F95AD4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726F8-0798-19C9-6BA6-041718311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BC2A-E588-4E33-A53E-A416B375F52E}" type="datetimeFigureOut">
              <a:rPr lang="en-IN" smtClean="0"/>
              <a:t>14-12-2025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1830F-5F58-CF25-F56A-C60EF3FC5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33D71-E5E4-8CE2-890B-6195F42D3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175D-3455-4E55-BE29-6A14F5271F8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4524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03751-8E27-B21F-960E-44CC7AB40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B8EB9-396D-617A-BE6F-F3DB91EB2E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5868F3-441C-37FC-A5F7-481CE0915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82E95-EF18-E4FC-DC2A-03FFA98F2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BC2A-E588-4E33-A53E-A416B375F52E}" type="datetimeFigureOut">
              <a:rPr lang="en-IN" smtClean="0"/>
              <a:t>14-12-2025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8BCE69-869F-A028-653C-D93FC76CC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7D7E5-8270-EB96-1907-227F502E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175D-3455-4E55-BE29-6A14F5271F8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8996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B5EF8-4A87-5F60-EED6-E326A4408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2F5D6-1085-177C-8E63-FFD4A297B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5D8651-C8BC-1CCB-C4DC-072FB8CCE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C0B49-21EB-1721-CED8-6E7D76A9DA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0B85D3-E7DB-A32E-BBEB-CF89085347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E14130-AFE6-D2B2-B6B1-92B585D23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BC2A-E588-4E33-A53E-A416B375F52E}" type="datetimeFigureOut">
              <a:rPr lang="en-IN" smtClean="0"/>
              <a:t>14-12-2025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0C62F0-15A9-B9D7-B38B-C0E60229C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7D99D5-7364-5FEF-BD75-A157541CA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175D-3455-4E55-BE29-6A14F5271F8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700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493D5-22F0-C66A-4D4F-E622B025D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3CBF4D-4A60-6F08-B9C7-2B3655835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BC2A-E588-4E33-A53E-A416B375F52E}" type="datetimeFigureOut">
              <a:rPr lang="en-IN" smtClean="0"/>
              <a:t>14-12-2025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0E67E7-A1AD-4578-1253-989CC75B6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DF5587-B1D0-EBB5-16EE-B14E26C6F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175D-3455-4E55-BE29-6A14F5271F8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8764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556F6E-5598-EA3D-DC06-6E341A3B3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BC2A-E588-4E33-A53E-A416B375F52E}" type="datetimeFigureOut">
              <a:rPr lang="en-IN" smtClean="0"/>
              <a:t>14-12-2025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2DBFCE-03E0-8F78-56C5-81D7A0BD4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913B4-C4B6-201B-2AA5-DBD6050BB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175D-3455-4E55-BE29-6A14F5271F8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9950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5DFE5-F3D2-EC0F-90A3-23DFC65AB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7D1B4-C86C-B192-400D-6FF14D703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079B4D-0742-E04F-A58C-64792D919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8A10A1-0A41-3785-B125-8EF1E095B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BC2A-E588-4E33-A53E-A416B375F52E}" type="datetimeFigureOut">
              <a:rPr lang="en-IN" smtClean="0"/>
              <a:t>14-12-2025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500A1-69F4-5A4D-0724-6A8D9A4B7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38864-6A7B-34F0-FB57-C1DF00DBB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175D-3455-4E55-BE29-6A14F5271F8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8629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3E489-05A9-E69D-79C0-B82CD5A8E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2DB1B6-38FF-A4AD-7A6F-A4D1B4F07B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F2F622-9DC1-BCA0-4669-7A7DAC4BF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87518-9090-0976-7FC4-EE0B9A5D6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BC2A-E588-4E33-A53E-A416B375F52E}" type="datetimeFigureOut">
              <a:rPr lang="en-IN" smtClean="0"/>
              <a:t>14-12-2025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B06B6-2C8B-7457-D02F-7D1E1ED12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4CDF73-A21E-931E-4A04-FE5AE7DB3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175D-3455-4E55-BE29-6A14F5271F8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5320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1AF1F-96C8-BB9A-CB05-AC1AA891A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539817-7968-F09F-0635-12E70CE9DA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FCB3C-23AD-DD7D-24C3-9A91A703B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BC2A-E588-4E33-A53E-A416B375F52E}" type="datetimeFigureOut">
              <a:rPr lang="en-IN" smtClean="0"/>
              <a:t>14-12-2025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12BAC-AECA-FA04-2C93-D741A2C70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A2986-F6E4-E7A5-4389-0765E53F9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175D-3455-4E55-BE29-6A14F5271F8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2125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D7051C-033D-49CB-4A87-69FD5FE847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6D4565-334B-E7A1-FB32-5C47E8FB33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B5B7C-F611-8139-964A-AD1F98C8A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BC2A-E588-4E33-A53E-A416B375F52E}" type="datetimeFigureOut">
              <a:rPr lang="en-IN" smtClean="0"/>
              <a:t>14-12-2025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13422-FECA-6D42-29AA-56F89A56D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3C671-1657-F1C2-E6C2-9DEB70389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175D-3455-4E55-BE29-6A14F5271F8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1811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E51D33-85FF-9F3A-8B87-2B19BDAA2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9FA177-B64E-113B-2F6F-87D25220C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18112-E463-E11C-92E6-D3B356FBB6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3BC2A-E588-4E33-A53E-A416B375F52E}" type="datetimeFigureOut">
              <a:rPr lang="en-IN" smtClean="0"/>
              <a:t>14-12-2025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FE2C1-7678-F499-AF36-4D95B2682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E8E42-67C1-3541-0C3A-EF2A954867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7B175D-3455-4E55-BE29-6A14F5271F8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5874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DB7A4-A48A-642C-D09B-45956CEA58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5400" dirty="0"/>
              <a:t>Non-Terrestrial Networks (in 6G)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2A5644-A286-7909-7C0D-AC7C9F92E4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r"/>
            <a:endParaRPr lang="en-IN" dirty="0"/>
          </a:p>
          <a:p>
            <a:pPr algn="r"/>
            <a:endParaRPr lang="en-IN" dirty="0"/>
          </a:p>
          <a:p>
            <a:pPr algn="r"/>
            <a:r>
              <a:rPr lang="en-IN" dirty="0"/>
              <a:t>Vinay Kusumanchi</a:t>
            </a:r>
            <a:br>
              <a:rPr lang="en-IN" dirty="0"/>
            </a:br>
            <a:r>
              <a:rPr lang="en-IN" dirty="0"/>
              <a:t>IMT2023608</a:t>
            </a:r>
          </a:p>
        </p:txBody>
      </p:sp>
    </p:spTree>
    <p:extLst>
      <p:ext uri="{BB962C8B-B14F-4D97-AF65-F5344CB8AC3E}">
        <p14:creationId xmlns:p14="http://schemas.microsoft.com/office/powerpoint/2010/main" val="3578964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C5A18-F5B3-6BF7-6C61-6B0AF1D05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What are NTNs?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EB7AA-7895-5BA7-0301-EA7D0C25F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Definition: </a:t>
            </a:r>
            <a:r>
              <a:rPr lang="en-US" dirty="0"/>
              <a:t>Networks that use space-based or aerial platforms instead of (or along with) traditional ground-based cell towers.</a:t>
            </a:r>
          </a:p>
          <a:p>
            <a:r>
              <a:rPr lang="en-US" dirty="0"/>
              <a:t>Operate above 8 km altitude up to geostationary orbit (~36,000 km)</a:t>
            </a:r>
          </a:p>
          <a:p>
            <a:r>
              <a:rPr lang="en-US" dirty="0"/>
              <a:t>Supported in 3GPP Release 17 → integrated into 5G/6G</a:t>
            </a:r>
          </a:p>
          <a:p>
            <a:r>
              <a:rPr lang="en-US" b="1" dirty="0"/>
              <a:t>Goal: </a:t>
            </a:r>
            <a:r>
              <a:rPr lang="en-US" dirty="0"/>
              <a:t>Provide connectivity anywhere (oceans, mountains, rural areas, and disaster zones) where terrestrial networks can’t reach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4894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A99AE-E097-0781-707E-A5739D076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Why NTNs?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4B23A-9B9F-5355-2ECE-26E1E9A0A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26380" cy="4351338"/>
          </a:xfrm>
        </p:spPr>
        <p:txBody>
          <a:bodyPr>
            <a:normAutofit/>
          </a:bodyPr>
          <a:lstStyle/>
          <a:p>
            <a:r>
              <a:rPr lang="en-US" sz="2400" b="1" dirty="0"/>
              <a:t>Global Coverage </a:t>
            </a:r>
            <a:r>
              <a:rPr lang="en-US" sz="2400" dirty="0"/>
              <a:t>- Reach 100% of the population, including </a:t>
            </a:r>
            <a:r>
              <a:rPr lang="en-IN" sz="2400" dirty="0"/>
              <a:t>remote, rural areas, oceans, disaster zones</a:t>
            </a:r>
            <a:endParaRPr lang="en-US" sz="2400" dirty="0"/>
          </a:p>
          <a:p>
            <a:r>
              <a:rPr lang="en-IN" sz="2400" dirty="0"/>
              <a:t>Terrestrial networks (5G towers) → limited reach, costly to expand globally</a:t>
            </a:r>
          </a:p>
          <a:p>
            <a:r>
              <a:rPr lang="en-US" sz="2400" dirty="0"/>
              <a:t>Disaster Recovery: Provide connectivity when ground towers are down</a:t>
            </a:r>
          </a:p>
          <a:p>
            <a:r>
              <a:rPr lang="en-US" sz="2400" dirty="0"/>
              <a:t>Maritime &amp; Aviation Connectivity: Internet on ships and airplanes</a:t>
            </a:r>
          </a:p>
          <a:p>
            <a:r>
              <a:rPr lang="en-US" sz="2400" dirty="0"/>
              <a:t>Military &amp; Emergency Comms: Secure, independent communication lines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806F41-2695-9503-BE12-84608900B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580" y="2231488"/>
            <a:ext cx="4727420" cy="353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237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E6631-BBF6-A596-41ED-291DCC053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NTN Platforms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98AB4-CF36-CB6C-BC79-B66F23193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8492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1. </a:t>
            </a:r>
            <a:r>
              <a:rPr lang="en-IN" sz="2400" b="1" dirty="0"/>
              <a:t>Satellites</a:t>
            </a:r>
          </a:p>
          <a:p>
            <a:r>
              <a:rPr lang="en-IN" sz="2400" b="1" dirty="0"/>
              <a:t>GEO</a:t>
            </a:r>
            <a:r>
              <a:rPr lang="en-IN" sz="2400" dirty="0"/>
              <a:t> (Geostationary Earth Orbit, 35800km altitude) - </a:t>
            </a:r>
            <a:br>
              <a:rPr lang="en-IN" sz="2400" dirty="0"/>
            </a:br>
            <a:r>
              <a:rPr lang="en-US" sz="2400" dirty="0"/>
              <a:t>Fixed satellites with large coverage area </a:t>
            </a:r>
            <a:br>
              <a:rPr lang="en-US" sz="2400" dirty="0"/>
            </a:br>
            <a:r>
              <a:rPr lang="en-US" sz="2400" dirty="0"/>
              <a:t>High latency</a:t>
            </a:r>
            <a:r>
              <a:rPr lang="en-IN" sz="2400" dirty="0"/>
              <a:t> </a:t>
            </a:r>
          </a:p>
          <a:p>
            <a:r>
              <a:rPr lang="en-IN" sz="2400" b="1" dirty="0"/>
              <a:t>MEO</a:t>
            </a:r>
            <a:r>
              <a:rPr lang="en-IN" sz="2400" dirty="0"/>
              <a:t> (Medium Earth Orbit, 2,000-35,000km altitude) -</a:t>
            </a:r>
            <a:br>
              <a:rPr lang="en-IN" sz="2400" dirty="0"/>
            </a:br>
            <a:r>
              <a:rPr lang="en-IN" sz="2400" dirty="0"/>
              <a:t>Lower latency than GEO </a:t>
            </a:r>
          </a:p>
          <a:p>
            <a:r>
              <a:rPr lang="en-IN" sz="2400" b="1" dirty="0"/>
              <a:t>LEO</a:t>
            </a:r>
            <a:r>
              <a:rPr lang="en-IN" sz="2400" dirty="0"/>
              <a:t> (Low Earth Orbit, 200-2,000 km altitude) -</a:t>
            </a:r>
            <a:br>
              <a:rPr lang="en-IN" sz="2400" dirty="0"/>
            </a:br>
            <a:r>
              <a:rPr lang="en-IN" sz="2400" dirty="0"/>
              <a:t>Low latency and high speed</a:t>
            </a:r>
            <a:br>
              <a:rPr lang="en-IN" sz="2400" dirty="0"/>
            </a:br>
            <a:r>
              <a:rPr lang="en-IN" sz="2400" dirty="0"/>
              <a:t>Needs many satellites in a constellation for full coverage </a:t>
            </a:r>
            <a:br>
              <a:rPr lang="en-IN" sz="2400" dirty="0"/>
            </a:br>
            <a:r>
              <a:rPr lang="en-IN" sz="2400" dirty="0"/>
              <a:t>Examples: Starlink, OneWeb, Amazon Kuiper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E00C8B-636A-8769-6706-81186034FE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" r="5793"/>
          <a:stretch>
            <a:fillRect/>
          </a:stretch>
        </p:blipFill>
        <p:spPr>
          <a:xfrm>
            <a:off x="7924799" y="1860290"/>
            <a:ext cx="4188542" cy="428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012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82BC7-5761-6B36-6ACB-BA698E730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NTN Platforms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751B0-C348-2E9B-339E-18CF9B797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9312"/>
            <a:ext cx="5331459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dirty="0"/>
              <a:t>2. </a:t>
            </a:r>
            <a:r>
              <a:rPr lang="en-IN" sz="2000" b="1" dirty="0"/>
              <a:t>High Altitude Platforms </a:t>
            </a:r>
            <a:r>
              <a:rPr lang="en-IN" sz="2000" dirty="0"/>
              <a:t>(HAPs, 20km altitude)</a:t>
            </a:r>
          </a:p>
          <a:p>
            <a:r>
              <a:rPr lang="en-IN" sz="2000" dirty="0"/>
              <a:t>Balloons, airships, or solar planes</a:t>
            </a:r>
          </a:p>
          <a:p>
            <a:r>
              <a:rPr lang="en-IN" sz="2000" dirty="0"/>
              <a:t>Quick deployment for events or disaster relief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3. </a:t>
            </a:r>
            <a:r>
              <a:rPr lang="en-IN" sz="2000" b="1" dirty="0"/>
              <a:t>Unmanned Aerial Vehicles </a:t>
            </a:r>
            <a:r>
              <a:rPr lang="en-IN" sz="2000" dirty="0"/>
              <a:t>(UAVs / Drones)</a:t>
            </a:r>
          </a:p>
          <a:p>
            <a:r>
              <a:rPr lang="en-IN" sz="2000" dirty="0"/>
              <a:t>Fly a few hundred meters to a few kilometres</a:t>
            </a:r>
          </a:p>
          <a:p>
            <a:r>
              <a:rPr lang="en-IN" sz="2000" dirty="0"/>
              <a:t>Provide temporary </a:t>
            </a:r>
            <a:r>
              <a:rPr lang="en-IN" sz="2100" dirty="0"/>
              <a:t>on-demand</a:t>
            </a:r>
            <a:r>
              <a:rPr lang="en-IN" sz="2000" dirty="0"/>
              <a:t> coverage (concerts, sports, emergency)</a:t>
            </a:r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3E0A66-636B-7D9A-A183-39A280C35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659" y="1883338"/>
            <a:ext cx="6022341" cy="376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301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B918D-5660-F8D5-09DE-8E9DD3514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Requirements of NTNs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BD715-6AB0-64E1-B4C5-31014AC39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76483" cy="4351338"/>
          </a:xfrm>
        </p:spPr>
        <p:txBody>
          <a:bodyPr>
            <a:normAutofit lnSpcReduction="10000"/>
          </a:bodyPr>
          <a:lstStyle/>
          <a:p>
            <a:r>
              <a:rPr lang="en-IN" sz="2400" b="1" dirty="0"/>
              <a:t>Throughput: </a:t>
            </a:r>
            <a:r>
              <a:rPr lang="en-IN" sz="2400" dirty="0"/>
              <a:t>High data rates for video/IoT</a:t>
            </a:r>
          </a:p>
          <a:p>
            <a:r>
              <a:rPr lang="en-IN" sz="2400" b="1" dirty="0"/>
              <a:t>Latency: </a:t>
            </a:r>
            <a:r>
              <a:rPr lang="en-US" sz="2400" dirty="0"/>
              <a:t>Signal travel time is longer than on land.</a:t>
            </a:r>
            <a:br>
              <a:rPr lang="en-IN" sz="2400" dirty="0"/>
            </a:br>
            <a:r>
              <a:rPr lang="en-IN" sz="2400" dirty="0"/>
              <a:t>LEO ~20-40 ms, GEO ~600 ms (too high for real-time apps)</a:t>
            </a:r>
          </a:p>
          <a:p>
            <a:r>
              <a:rPr lang="en-US" sz="2400" b="1" dirty="0"/>
              <a:t>Interference Management</a:t>
            </a:r>
            <a:r>
              <a:rPr lang="en-US" sz="2400" dirty="0"/>
              <a:t>: Integrating efficiently with terrestrial networks and avoiding signal clash </a:t>
            </a:r>
            <a:endParaRPr lang="en-IN" sz="2400" dirty="0"/>
          </a:p>
          <a:p>
            <a:r>
              <a:rPr lang="en-IN" sz="2400" b="1" dirty="0"/>
              <a:t>Spectrum efficiency: </a:t>
            </a:r>
            <a:r>
              <a:rPr lang="en-IN" sz="2400" dirty="0"/>
              <a:t>Coordinating frequency use globally, avoid interference (frequency reuse, beamforming)</a:t>
            </a:r>
          </a:p>
          <a:p>
            <a:r>
              <a:rPr lang="en-IN" sz="2400" b="1" dirty="0"/>
              <a:t>Energy efficiency: </a:t>
            </a:r>
            <a:r>
              <a:rPr lang="en-IN" sz="2400" dirty="0"/>
              <a:t>Limited power on UAVs/satellites</a:t>
            </a:r>
          </a:p>
          <a:p>
            <a:r>
              <a:rPr lang="en-IN" sz="2400" b="1" dirty="0"/>
              <a:t>6G</a:t>
            </a:r>
            <a:r>
              <a:rPr lang="en-IN" sz="2400" dirty="0"/>
              <a:t> → Terrestrial + Non-Terrestrial seamless integration</a:t>
            </a:r>
          </a:p>
          <a:p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D8C477-35D2-7FCB-9C50-543CFA936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4683" y="2070126"/>
            <a:ext cx="4413128" cy="353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409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B51F4-C5A1-5911-2C9A-C212754EA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Research Areas in NTNs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2CBF3-88B6-8ECE-1A26-4FA64D865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Resource Allocation</a:t>
            </a:r>
          </a:p>
          <a:p>
            <a:r>
              <a:rPr lang="en-IN" dirty="0"/>
              <a:t>Beamforming - user-centric beams for higher capacity</a:t>
            </a:r>
          </a:p>
          <a:p>
            <a:r>
              <a:rPr lang="en-IN" dirty="0"/>
              <a:t>Network Routing</a:t>
            </a:r>
          </a:p>
          <a:p>
            <a:r>
              <a:rPr lang="en-IN" dirty="0"/>
              <a:t>AI Integration - predicting traffic, optimizing routing, anomaly detection</a:t>
            </a:r>
          </a:p>
          <a:p>
            <a:r>
              <a:rPr lang="en-IN" dirty="0"/>
              <a:t>Inter-Satellite Links (ISL) – enabling satellite swarms to work as one </a:t>
            </a:r>
          </a:p>
          <a:p>
            <a:r>
              <a:rPr lang="en-IN" dirty="0"/>
              <a:t>Security &amp; Privacy – secure data transmission across space &amp; ground</a:t>
            </a:r>
          </a:p>
        </p:txBody>
      </p:sp>
    </p:spTree>
    <p:extLst>
      <p:ext uri="{BB962C8B-B14F-4D97-AF65-F5344CB8AC3E}">
        <p14:creationId xmlns:p14="http://schemas.microsoft.com/office/powerpoint/2010/main" val="575996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57769-6FED-3F94-D774-02E4BEA9E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Resource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56196-223D-F6CD-6249-DCB41E7EE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400" dirty="0"/>
              <a:t>Efficient use of spectrum, power, and time slots in NTNs</a:t>
            </a:r>
          </a:p>
          <a:p>
            <a:r>
              <a:rPr lang="en-IN" sz="2400" b="1" dirty="0"/>
              <a:t>Why?</a:t>
            </a:r>
            <a:br>
              <a:rPr lang="en-IN" sz="2400" dirty="0"/>
            </a:br>
            <a:r>
              <a:rPr lang="en-IN" sz="2400" dirty="0"/>
              <a:t>Satellites, UAVs, and HAPS have limited bandwidth, power, and coverage.</a:t>
            </a:r>
            <a:br>
              <a:rPr lang="en-IN" sz="2400" dirty="0"/>
            </a:br>
            <a:r>
              <a:rPr lang="en-IN" sz="2400" dirty="0"/>
              <a:t>Thousands of UEs (user devices) may compete for the same resources.</a:t>
            </a:r>
            <a:br>
              <a:rPr lang="en-IN" sz="2400" dirty="0"/>
            </a:br>
            <a:r>
              <a:rPr lang="en-IN" sz="2400" dirty="0"/>
              <a:t>Incorrect allocation → congestion, wasted energy, poor QoS.</a:t>
            </a:r>
          </a:p>
          <a:p>
            <a:r>
              <a:rPr lang="en-IN" sz="2400" b="1" dirty="0"/>
              <a:t>Fairness vs Efficiency trade-off: </a:t>
            </a:r>
            <a:r>
              <a:rPr lang="en-IN" sz="2400" dirty="0"/>
              <a:t>need to balance between maximizing throughput and serving all users fairly.</a:t>
            </a:r>
          </a:p>
          <a:p>
            <a:r>
              <a:rPr lang="en-IN" sz="2400" b="1" dirty="0"/>
              <a:t>Research directions</a:t>
            </a:r>
            <a:br>
              <a:rPr lang="en-IN" sz="2400" dirty="0"/>
            </a:br>
            <a:r>
              <a:rPr lang="en-IN" sz="2400" b="1" dirty="0"/>
              <a:t>AI/ML-based allocation: </a:t>
            </a:r>
            <a:r>
              <a:rPr lang="en-IN" sz="2400" dirty="0"/>
              <a:t>predict traffic demand and allocate proactively.</a:t>
            </a:r>
            <a:br>
              <a:rPr lang="en-IN" sz="2400" dirty="0"/>
            </a:br>
            <a:r>
              <a:rPr lang="en-IN" sz="2400" b="1" dirty="0"/>
              <a:t>Non-Orthogonal Multiple Access (NOMA) in NTNs: </a:t>
            </a:r>
            <a:r>
              <a:rPr lang="en-IN" sz="2400" dirty="0"/>
              <a:t>multiple users share same frequency with power-domain separation.</a:t>
            </a:r>
            <a:br>
              <a:rPr lang="en-IN" sz="2400" dirty="0"/>
            </a:br>
            <a:r>
              <a:rPr lang="en-IN" sz="2400" b="1" dirty="0"/>
              <a:t>Dynamic Spectrum Sharing </a:t>
            </a:r>
            <a:r>
              <a:rPr lang="en-IN" sz="2400" dirty="0"/>
              <a:t>between terrestrial and non-terrestrial networks.</a:t>
            </a:r>
          </a:p>
        </p:txBody>
      </p:sp>
    </p:spTree>
    <p:extLst>
      <p:ext uri="{BB962C8B-B14F-4D97-AF65-F5344CB8AC3E}">
        <p14:creationId xmlns:p14="http://schemas.microsoft.com/office/powerpoint/2010/main" val="3319932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E5C48-6280-5471-9829-9D298568A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Network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903E0-8706-A3F7-56DD-5D2B0C4D3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Choosing the best path for data in a dynamic space-air-ground network</a:t>
            </a:r>
          </a:p>
          <a:p>
            <a:r>
              <a:rPr lang="en-IN" b="1" dirty="0"/>
              <a:t>Why?</a:t>
            </a:r>
            <a:endParaRPr lang="en-IN" dirty="0"/>
          </a:p>
          <a:p>
            <a:pPr lvl="1"/>
            <a:r>
              <a:rPr lang="en-IN" dirty="0"/>
              <a:t>Unlike terrestrial networks, NTNs are constantly moving (LEO satellites, UAVs).</a:t>
            </a:r>
          </a:p>
          <a:p>
            <a:pPr lvl="1"/>
            <a:r>
              <a:rPr lang="en-IN" dirty="0"/>
              <a:t>Data may need to hop across multiple satellites, HAPS, or UAVs before reaching the ground.</a:t>
            </a:r>
          </a:p>
          <a:p>
            <a:pPr lvl="1"/>
            <a:r>
              <a:rPr lang="en-IN" dirty="0"/>
              <a:t>Efficient routing = lower latency + higher reliability.</a:t>
            </a:r>
          </a:p>
          <a:p>
            <a:r>
              <a:rPr lang="en-IN" b="1" dirty="0"/>
              <a:t>Energy constraints</a:t>
            </a:r>
            <a:r>
              <a:rPr lang="en-IN" dirty="0"/>
              <a:t>: UAVs and satellites cannot afford energy-heavy routing protocols.</a:t>
            </a:r>
          </a:p>
          <a:p>
            <a:r>
              <a:rPr lang="en-US" b="1" dirty="0"/>
              <a:t>Delay-sensitive applications</a:t>
            </a:r>
            <a:r>
              <a:rPr lang="en-US" dirty="0"/>
              <a:t>: need routing that minimizes propagation + queuing delay.</a:t>
            </a:r>
            <a:endParaRPr lang="en-IN" b="1" dirty="0"/>
          </a:p>
          <a:p>
            <a:r>
              <a:rPr lang="en-IN" b="1" dirty="0"/>
              <a:t>Research directions</a:t>
            </a:r>
            <a:endParaRPr lang="en-IN" dirty="0"/>
          </a:p>
          <a:p>
            <a:pPr lvl="1"/>
            <a:r>
              <a:rPr lang="en-IN" b="1" dirty="0"/>
              <a:t>AI-driven routing</a:t>
            </a:r>
            <a:r>
              <a:rPr lang="en-IN" dirty="0"/>
              <a:t>: predict mobility and select best future path.</a:t>
            </a:r>
          </a:p>
          <a:p>
            <a:pPr lvl="1"/>
            <a:r>
              <a:rPr lang="en-IN" b="1" dirty="0"/>
              <a:t>Cluster-based routing</a:t>
            </a:r>
            <a:r>
              <a:rPr lang="en-IN" dirty="0"/>
              <a:t>: group nearby satellites (swarm intelligence).</a:t>
            </a:r>
          </a:p>
          <a:p>
            <a:pPr lvl="1"/>
            <a:r>
              <a:rPr lang="en-IN" b="1" dirty="0"/>
              <a:t>Multi-Connectivity Routing</a:t>
            </a:r>
            <a:r>
              <a:rPr lang="en-IN" dirty="0"/>
              <a:t>: simultaneous use of terrestrial + NTN paths for reliability.</a:t>
            </a:r>
          </a:p>
          <a:p>
            <a:pPr lvl="1"/>
            <a:r>
              <a:rPr lang="en-IN" b="1" dirty="0"/>
              <a:t>Energy-aware routing</a:t>
            </a:r>
            <a:r>
              <a:rPr lang="en-IN" dirty="0"/>
              <a:t>: reduce load on UAVs/satellites with limited onboard power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7579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73CA1-7698-31A5-F3CB-0F9189336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Routing in 6G NTN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2194D1D-C1D6-F117-0A81-7364065FF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Why Routing: Efficient path selection reduces delay, packet loss, and congestion.</a:t>
            </a:r>
          </a:p>
          <a:p>
            <a:r>
              <a:rPr lang="en-IN" dirty="0"/>
              <a:t>Challenges:</a:t>
            </a:r>
            <a:br>
              <a:rPr lang="en-IN" dirty="0"/>
            </a:br>
            <a:r>
              <a:rPr lang="en-IN" dirty="0"/>
              <a:t>Dynamic satellite topologies</a:t>
            </a:r>
            <a:br>
              <a:rPr lang="en-IN" dirty="0"/>
            </a:br>
            <a:r>
              <a:rPr lang="en-IN" dirty="0"/>
              <a:t>Link failures &amp; congestion</a:t>
            </a:r>
            <a:br>
              <a:rPr lang="en-IN" dirty="0"/>
            </a:br>
            <a:r>
              <a:rPr lang="en-IN" dirty="0"/>
              <a:t>Multi-layer orbit planes</a:t>
            </a:r>
          </a:p>
          <a:p>
            <a:r>
              <a:rPr lang="en-IN" dirty="0"/>
              <a:t>Categories of Routing:</a:t>
            </a:r>
            <a:br>
              <a:rPr lang="en-IN" dirty="0"/>
            </a:br>
            <a:r>
              <a:rPr lang="en-IN" dirty="0"/>
              <a:t>Centralized – global optimization</a:t>
            </a:r>
            <a:br>
              <a:rPr lang="en-IN" dirty="0"/>
            </a:br>
            <a:r>
              <a:rPr lang="en-IN" dirty="0"/>
              <a:t>Distributed – local adaptability</a:t>
            </a:r>
            <a:br>
              <a:rPr lang="en-IN" dirty="0"/>
            </a:br>
            <a:r>
              <a:rPr lang="en-IN" dirty="0"/>
              <a:t>Hybrid – combines both</a:t>
            </a:r>
          </a:p>
        </p:txBody>
      </p:sp>
    </p:spTree>
    <p:extLst>
      <p:ext uri="{BB962C8B-B14F-4D97-AF65-F5344CB8AC3E}">
        <p14:creationId xmlns:p14="http://schemas.microsoft.com/office/powerpoint/2010/main" val="1985330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3736E-0169-9B1C-4481-7442A28A0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Centralized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E7B4C-C3AB-22C9-DE9C-EAA3DC5E5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Definition: Routes are computed by a global controller (e.g., Ground Control Centre, GEO/MEO nodes with SDN).</a:t>
            </a:r>
          </a:p>
          <a:p>
            <a:r>
              <a:rPr lang="en-IN" dirty="0"/>
              <a:t>Features:</a:t>
            </a:r>
            <a:br>
              <a:rPr lang="en-IN" dirty="0"/>
            </a:br>
            <a:r>
              <a:rPr lang="en-IN" dirty="0"/>
              <a:t>Global view of the network</a:t>
            </a:r>
            <a:br>
              <a:rPr lang="en-IN" dirty="0"/>
            </a:br>
            <a:r>
              <a:rPr lang="en-IN" dirty="0"/>
              <a:t>Optimized paths (Dijkstra, RL, etc.)</a:t>
            </a:r>
            <a:br>
              <a:rPr lang="en-IN" dirty="0"/>
            </a:br>
            <a:r>
              <a:rPr lang="en-IN" dirty="0"/>
              <a:t>High complexity &amp; signalling overhead</a:t>
            </a:r>
          </a:p>
          <a:p>
            <a:r>
              <a:rPr lang="en-IN" dirty="0"/>
              <a:t>Pros: Better fault tolerance, optimized delay &amp; throughput</a:t>
            </a:r>
          </a:p>
          <a:p>
            <a:r>
              <a:rPr lang="en-IN" dirty="0"/>
              <a:t>Cons: Latency in large networks, reliance on control centres</a:t>
            </a:r>
          </a:p>
        </p:txBody>
      </p:sp>
    </p:spTree>
    <p:extLst>
      <p:ext uri="{BB962C8B-B14F-4D97-AF65-F5344CB8AC3E}">
        <p14:creationId xmlns:p14="http://schemas.microsoft.com/office/powerpoint/2010/main" val="478356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F2841-70BC-B8F1-ADD5-B340EC10A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Distributed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94324-047C-8B2A-624F-3EF0E411A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Definition: Each satellite computes and updates routes locally using onboard processing.</a:t>
            </a:r>
          </a:p>
          <a:p>
            <a:r>
              <a:rPr lang="en-IN" dirty="0"/>
              <a:t>Features:</a:t>
            </a:r>
            <a:br>
              <a:rPr lang="en-IN" dirty="0"/>
            </a:br>
            <a:r>
              <a:rPr lang="en-IN" dirty="0"/>
              <a:t>Adaptive to dynamic conditions</a:t>
            </a:r>
            <a:br>
              <a:rPr lang="en-IN" dirty="0"/>
            </a:br>
            <a:r>
              <a:rPr lang="en-IN" dirty="0"/>
              <a:t>Uses protocols like LCO-RIP, ADR, AODV</a:t>
            </a:r>
          </a:p>
          <a:p>
            <a:r>
              <a:rPr lang="en-IN" dirty="0"/>
              <a:t>Pros: Quick response, scalable, no single point of failure</a:t>
            </a:r>
          </a:p>
          <a:p>
            <a:r>
              <a:rPr lang="en-IN" dirty="0"/>
              <a:t>Cons: Lacks global optimization -&gt; may create bottlenecks</a:t>
            </a:r>
          </a:p>
          <a:p>
            <a:r>
              <a:rPr lang="en-IN" dirty="0"/>
              <a:t>Use Case: Highly dynamic LEO constellations</a:t>
            </a:r>
          </a:p>
        </p:txBody>
      </p:sp>
    </p:spTree>
    <p:extLst>
      <p:ext uri="{BB962C8B-B14F-4D97-AF65-F5344CB8AC3E}">
        <p14:creationId xmlns:p14="http://schemas.microsoft.com/office/powerpoint/2010/main" val="2068536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98CEB-FAEF-55A0-2776-59B38A2F8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Hybrid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6713A-61B7-87F1-5CE4-C7CBA755B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Definition: Integrates centralized global planning with distributed local decisions.</a:t>
            </a:r>
          </a:p>
          <a:p>
            <a:r>
              <a:rPr lang="en-IN" dirty="0"/>
              <a:t>Features:</a:t>
            </a:r>
            <a:br>
              <a:rPr lang="en-IN" dirty="0"/>
            </a:br>
            <a:r>
              <a:rPr lang="en-IN" dirty="0"/>
              <a:t>SDN + MEC support (MaCRo, SDMCN with OGDR algorithm)</a:t>
            </a:r>
            <a:br>
              <a:rPr lang="en-IN" dirty="0"/>
            </a:br>
            <a:r>
              <a:rPr lang="en-IN" dirty="0"/>
              <a:t>Local adaptation + global optimization</a:t>
            </a:r>
          </a:p>
          <a:p>
            <a:r>
              <a:rPr lang="en-IN" dirty="0"/>
              <a:t>Pros: Balances performance, reliability, and flexibility</a:t>
            </a:r>
          </a:p>
          <a:p>
            <a:r>
              <a:rPr lang="en-IN" dirty="0"/>
              <a:t>Cons: Still complex, research ongoing</a:t>
            </a:r>
          </a:p>
          <a:p>
            <a:r>
              <a:rPr lang="en-IN" dirty="0"/>
              <a:t>Use Case: Mega-constellations like Starlink, Kuiper</a:t>
            </a:r>
          </a:p>
        </p:txBody>
      </p:sp>
    </p:spTree>
    <p:extLst>
      <p:ext uri="{BB962C8B-B14F-4D97-AF65-F5344CB8AC3E}">
        <p14:creationId xmlns:p14="http://schemas.microsoft.com/office/powerpoint/2010/main" val="1637141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80D043-9352-4236-CD1E-4D71DF48A78C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059509662"/>
              </p:ext>
            </p:extLst>
          </p:nvPr>
        </p:nvGraphicFramePr>
        <p:xfrm>
          <a:off x="0" y="0"/>
          <a:ext cx="12192000" cy="685799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6851405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31920090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81195947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337892007"/>
                    </a:ext>
                  </a:extLst>
                </a:gridCol>
              </a:tblGrid>
              <a:tr h="61654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Centralized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Distributed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Hybrid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0696821"/>
                  </a:ext>
                </a:extLst>
              </a:tr>
              <a:tr h="1520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Definition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Global controller computes routes (ground station, SDN)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Each satellite makes local routing decisions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Combines global planning + local adaptation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233565"/>
                  </a:ext>
                </a:extLst>
              </a:tr>
              <a:tr h="616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View of Network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Global, complete 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Local, partial 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Global + local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6779947"/>
                  </a:ext>
                </a:extLst>
              </a:tr>
              <a:tr h="1520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Pros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Optimized paths</a:t>
                      </a:r>
                      <a:br>
                        <a:rPr lang="en-US" sz="2000" dirty="0"/>
                      </a:br>
                      <a:r>
                        <a:rPr lang="en-US" sz="2000" dirty="0"/>
                        <a:t>Efficient resource use</a:t>
                      </a:r>
                      <a:br>
                        <a:rPr lang="en-US" sz="2000" dirty="0"/>
                      </a:br>
                      <a:r>
                        <a:rPr lang="en-US" sz="2000" dirty="0"/>
                        <a:t>High reliability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Fast response</a:t>
                      </a:r>
                      <a:br>
                        <a:rPr lang="en-US" sz="2000" dirty="0"/>
                      </a:br>
                      <a:r>
                        <a:rPr lang="en-US" sz="2000" dirty="0"/>
                        <a:t>Scalable</a:t>
                      </a:r>
                      <a:br>
                        <a:rPr lang="en-US" sz="2000" dirty="0"/>
                      </a:br>
                      <a:r>
                        <a:rPr lang="en-US" sz="2000" dirty="0"/>
                        <a:t>No single point of failure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Balance between optimization and adaptability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8710386"/>
                  </a:ext>
                </a:extLst>
              </a:tr>
              <a:tr h="1520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Cons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High overhead</a:t>
                      </a:r>
                      <a:br>
                        <a:rPr lang="en-US" sz="2000" dirty="0"/>
                      </a:br>
                      <a:r>
                        <a:rPr lang="en-US" sz="2000" dirty="0"/>
                        <a:t>Slower updates</a:t>
                      </a:r>
                      <a:br>
                        <a:rPr lang="en-US" sz="2000" dirty="0"/>
                      </a:br>
                      <a:r>
                        <a:rPr lang="en-US" sz="2000" dirty="0"/>
                        <a:t>Central point of failure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Suboptimal routes</a:t>
                      </a:r>
                      <a:br>
                        <a:rPr lang="en-US" sz="2000" dirty="0"/>
                      </a:br>
                      <a:r>
                        <a:rPr lang="en-US" sz="2000" dirty="0"/>
                        <a:t>Risk of congestion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More complex, requires coordination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2689093"/>
                  </a:ext>
                </a:extLst>
              </a:tr>
              <a:tr h="1064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Best Suited For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Smaller constellations, stable GEO/MEO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Large dynamic LEO constellations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Mega-constellations (Starlink, Kuiper), 6G NTN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4653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4560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BE72AA30-B2C9-98F7-FF0E-7ED3C19750A9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238410938"/>
              </p:ext>
            </p:extLst>
          </p:nvPr>
        </p:nvGraphicFramePr>
        <p:xfrm>
          <a:off x="0" y="0"/>
          <a:ext cx="12192001" cy="690021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12516">
                  <a:extLst>
                    <a:ext uri="{9D8B030D-6E8A-4147-A177-3AD203B41FA5}">
                      <a16:colId xmlns:a16="http://schemas.microsoft.com/office/drawing/2014/main" val="4022172633"/>
                    </a:ext>
                  </a:extLst>
                </a:gridCol>
                <a:gridCol w="2939970">
                  <a:extLst>
                    <a:ext uri="{9D8B030D-6E8A-4147-A177-3AD203B41FA5}">
                      <a16:colId xmlns:a16="http://schemas.microsoft.com/office/drawing/2014/main" val="2162106860"/>
                    </a:ext>
                  </a:extLst>
                </a:gridCol>
                <a:gridCol w="2442258">
                  <a:extLst>
                    <a:ext uri="{9D8B030D-6E8A-4147-A177-3AD203B41FA5}">
                      <a16:colId xmlns:a16="http://schemas.microsoft.com/office/drawing/2014/main" val="1885272701"/>
                    </a:ext>
                  </a:extLst>
                </a:gridCol>
                <a:gridCol w="2407534">
                  <a:extLst>
                    <a:ext uri="{9D8B030D-6E8A-4147-A177-3AD203B41FA5}">
                      <a16:colId xmlns:a16="http://schemas.microsoft.com/office/drawing/2014/main" val="3488830044"/>
                    </a:ext>
                  </a:extLst>
                </a:gridCol>
                <a:gridCol w="2500133">
                  <a:extLst>
                    <a:ext uri="{9D8B030D-6E8A-4147-A177-3AD203B41FA5}">
                      <a16:colId xmlns:a16="http://schemas.microsoft.com/office/drawing/2014/main" val="2291305752"/>
                    </a:ext>
                  </a:extLst>
                </a:gridCol>
                <a:gridCol w="1589590">
                  <a:extLst>
                    <a:ext uri="{9D8B030D-6E8A-4147-A177-3AD203B41FA5}">
                      <a16:colId xmlns:a16="http://schemas.microsoft.com/office/drawing/2014/main" val="972278347"/>
                    </a:ext>
                  </a:extLst>
                </a:gridCol>
              </a:tblGrid>
              <a:tr h="410530"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ML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Optimization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Objectives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NTN Platform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76100"/>
                  </a:ext>
                </a:extLst>
              </a:tr>
              <a:tr h="1395799"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Enhancing Resource Utilization of Non-Terrestrial Networks Using Temporal Graph-Based Deterministic Routing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IN" sz="1600" dirty="0"/>
                        <a:t>Integer Linear Programming (ILP)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sz="1600" dirty="0"/>
                        <a:t>2. Extended Time-Expanded Graph (ETEG) Algorithm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sz="1600" dirty="0"/>
                        <a:t>Improve resource utilization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sz="1600" dirty="0"/>
                        <a:t>Ensure deterministic delay/jitter guarantees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LEO satellites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431642"/>
                  </a:ext>
                </a:extLst>
              </a:tr>
              <a:tr h="1131323">
                <a:tc>
                  <a:txBody>
                    <a:bodyPr/>
                    <a:lstStyle/>
                    <a:p>
                      <a:r>
                        <a:rPr lang="en-IN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Centralized Versus Distributed Routing for</a:t>
                      </a:r>
                    </a:p>
                    <a:p>
                      <a:r>
                        <a:rPr lang="en-IN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Large-Scale Satellite Networks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sz="1600" dirty="0"/>
                        <a:t>Graph Neural Network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sz="1600" dirty="0"/>
                        <a:t>Reinforcement Learning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RL optimization with reward shaping (compared against Dijkstra, Q-routing)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Enable adaptive, low-delay, high-throughput routing in dynamic integrated NTN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LEO satellites integrated with terrestrial 5G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652400"/>
                  </a:ext>
                </a:extLst>
              </a:tr>
              <a:tr h="1176851">
                <a:tc>
                  <a:txBody>
                    <a:bodyPr/>
                    <a:lstStyle/>
                    <a:p>
                      <a:r>
                        <a:rPr lang="en-IN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Distributed On-Demand Routing for LEO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Mega-Constellations: A Starlink Case Study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/>
                        <a:t>Reinforcement Learning (Q-learning / Deep RL)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RL optimization (policy learning)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Adaptive routing for dynamic LEO topologies, reduce delay &amp; packet loss, improve throughput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LEO satellites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736854"/>
                  </a:ext>
                </a:extLst>
              </a:tr>
              <a:tr h="1389911">
                <a:tc>
                  <a:txBody>
                    <a:bodyPr/>
                    <a:lstStyle/>
                    <a:p>
                      <a:r>
                        <a:rPr lang="en-IN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path selection method based on rule prediction in non-terrestrial networks 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600" dirty="0"/>
                        <a:t>Multi-Agent Reinforcement Learning (Q-routing)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Q-routing optimization in MARL framework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Adaptive routing in dynamic LEO, reduce delay &amp; packet loss, improve throughput &amp; load balancing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LEO satellites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0066020"/>
                  </a:ext>
                </a:extLst>
              </a:tr>
              <a:tr h="1395799">
                <a:tc>
                  <a:txBody>
                    <a:bodyPr/>
                    <a:lstStyle/>
                    <a:p>
                      <a:r>
                        <a:rPr lang="en-IN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Routing Method with Link Information-based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Rule Selection in Non-Terrestrial Networks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600" dirty="0"/>
                        <a:t>Random Forest (classification model)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Rule-based optimization (maximize Eb/N0, minimize BER, minimize distance, etc.)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Imp</a:t>
                      </a:r>
                      <a:r>
                        <a:rPr lang="en-US" sz="1600" dirty="0"/>
                        <a:t>rove packet delivery under dynamic topology &amp; weather; achieved ~93% delivery vs 67–79% for AODV/OLSR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LEO satellites + ISLs + Ground Stations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782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364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049DA-8499-EA02-FFB7-F3A3A9729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Routing Parameters in NetSim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937D0-C1B4-1182-44D0-562C5AA34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Routing Protocol Selection</a:t>
            </a:r>
          </a:p>
          <a:p>
            <a:pPr lvl="1"/>
            <a:r>
              <a:rPr lang="en-US" dirty="0"/>
              <a:t>Let’s us choose which routing algorithm the node will use</a:t>
            </a:r>
          </a:p>
          <a:p>
            <a:pPr lvl="1"/>
            <a:r>
              <a:rPr lang="en-IN" dirty="0"/>
              <a:t>AODV, OLSR, DSR, RIP, Static</a:t>
            </a:r>
          </a:p>
          <a:p>
            <a:r>
              <a:rPr lang="en-IN" dirty="0"/>
              <a:t>Protocol-Specific Parameters</a:t>
            </a:r>
          </a:p>
          <a:p>
            <a:pPr lvl="1"/>
            <a:r>
              <a:rPr lang="en-IN" dirty="0"/>
              <a:t>AODV: Hello Interval, Active Route Timeout</a:t>
            </a:r>
          </a:p>
          <a:p>
            <a:pPr lvl="1"/>
            <a:r>
              <a:rPr lang="en-IN" dirty="0"/>
              <a:t>OLSR: Hello Interval, TC Interval</a:t>
            </a:r>
          </a:p>
          <a:p>
            <a:pPr lvl="1"/>
            <a:r>
              <a:rPr lang="en-IN" dirty="0"/>
              <a:t>RIP: Update Time</a:t>
            </a:r>
          </a:p>
          <a:p>
            <a:r>
              <a:rPr lang="en-US" sz="2200" dirty="0"/>
              <a:t>Hello Interval: Time between “hello” messages used to check if neighbors are alive.</a:t>
            </a:r>
            <a:br>
              <a:rPr lang="en-US" sz="2200" dirty="0"/>
            </a:br>
            <a:r>
              <a:rPr lang="en-US" sz="2200" dirty="0"/>
              <a:t>Active Route Timeout: How long an unused route is kept in the routing table before being deleted</a:t>
            </a:r>
            <a:br>
              <a:rPr lang="en-US" sz="2200" dirty="0"/>
            </a:br>
            <a:r>
              <a:rPr lang="en-US" sz="2200" dirty="0"/>
              <a:t>TC Interval (Topology Control Interval): Frequency of topology update messages to inform the network about reachable nodes.</a:t>
            </a:r>
            <a:br>
              <a:rPr lang="en-US" sz="2200" dirty="0"/>
            </a:br>
            <a:r>
              <a:rPr lang="en-US" sz="2200" dirty="0"/>
              <a:t>Update Timer: Interval at which the routing table is broadcast to neighbors.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979828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9D701-7907-8EEF-EF45-35AC99972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AB2AE-FE1A-A587-BB93-AF498F0C0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Start with a dataset, each record has features (inputs) and a label (output).</a:t>
            </a:r>
          </a:p>
          <a:p>
            <a:pPr lvl="1"/>
            <a:r>
              <a:rPr lang="en-US" dirty="0"/>
              <a:t>Example in NTN: link delay, SNR, bandwidth → classify as </a:t>
            </a:r>
            <a:r>
              <a:rPr lang="en-US" b="1" dirty="0"/>
              <a:t>good</a:t>
            </a:r>
            <a:r>
              <a:rPr lang="en-US" dirty="0"/>
              <a:t> or </a:t>
            </a:r>
            <a:r>
              <a:rPr lang="en-US" b="1" dirty="0"/>
              <a:t>bad</a:t>
            </a:r>
            <a:r>
              <a:rPr lang="en-US" dirty="0"/>
              <a:t> link.</a:t>
            </a:r>
          </a:p>
          <a:p>
            <a:r>
              <a:rPr lang="en-US" dirty="0"/>
              <a:t>Create multiple decision trees: Each tree is trained on a different random sample of the data. Each tree also sees only some of the features. So, every tree learns slightly different patterns.</a:t>
            </a:r>
          </a:p>
          <a:p>
            <a:r>
              <a:rPr lang="en-US" dirty="0"/>
              <a:t>Each tree makes its own prediction</a:t>
            </a:r>
          </a:p>
          <a:p>
            <a:pPr lvl="1"/>
            <a:r>
              <a:rPr lang="en-US" dirty="0"/>
              <a:t>For example: </a:t>
            </a:r>
          </a:p>
          <a:p>
            <a:pPr lvl="2"/>
            <a:r>
              <a:rPr lang="en-US" dirty="0"/>
              <a:t>Tree 1 → Good link</a:t>
            </a:r>
          </a:p>
          <a:p>
            <a:pPr lvl="2"/>
            <a:r>
              <a:rPr lang="en-US" dirty="0"/>
              <a:t>Tree 2 → Bad link</a:t>
            </a:r>
          </a:p>
          <a:p>
            <a:pPr lvl="2"/>
            <a:r>
              <a:rPr lang="en-US" dirty="0"/>
              <a:t>Tree 3 → Good link</a:t>
            </a:r>
          </a:p>
          <a:p>
            <a:r>
              <a:rPr lang="en-US" dirty="0"/>
              <a:t>Forest combines the votes: The final decision is based on the majority vote.</a:t>
            </a:r>
          </a:p>
          <a:p>
            <a:r>
              <a:rPr lang="en-US" dirty="0"/>
              <a:t>This reduces errors because not all trees make the same mistake.</a:t>
            </a:r>
          </a:p>
          <a:p>
            <a:r>
              <a:rPr lang="en-US" dirty="0"/>
              <a:t>Model learns the most important features that is it also shows which features (delay, SNR, etc.) most affect the final decision.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9414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B82E8-5EBE-0BFD-4B17-A9C3AF556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/>
              <a:t>Random Forest (Our example Model)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E8F82-B99B-80CF-3FF4-2D98A6239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Used a public satellite dataset (satimage from OpenML). Each record had several features describing satellite surface data.</a:t>
            </a:r>
          </a:p>
          <a:p>
            <a:r>
              <a:rPr lang="en-US" dirty="0"/>
              <a:t>We trained a Random Forest Classifier with 100 trees. The model learned patterns between input features and output classes.</a:t>
            </a:r>
          </a:p>
          <a:p>
            <a:r>
              <a:rPr lang="en-US" dirty="0"/>
              <a:t>It predicted the correct class with ~92% accuracy, meaning it predicted correctly most of the time.</a:t>
            </a:r>
          </a:p>
          <a:p>
            <a:r>
              <a:rPr lang="en-US" dirty="0"/>
              <a:t>It also showed which features were most important for decisions.</a:t>
            </a:r>
          </a:p>
          <a:p>
            <a:r>
              <a:rPr lang="en-US" dirty="0"/>
              <a:t>Similar approach can be used in NTN routing to classify good or bad links based on delay, SNR, etc.</a:t>
            </a:r>
          </a:p>
          <a:p>
            <a:r>
              <a:rPr lang="en-US" dirty="0"/>
              <a:t>Output</a:t>
            </a:r>
          </a:p>
          <a:p>
            <a:pPr lvl="1"/>
            <a:r>
              <a:rPr lang="en-US" dirty="0"/>
              <a:t>Accuracy: 0.916 → very high performance.</a:t>
            </a:r>
          </a:p>
          <a:p>
            <a:pPr lvl="1"/>
            <a:r>
              <a:rPr lang="en-US" dirty="0"/>
              <a:t>Confusion Matrix: showed few misclassifications.</a:t>
            </a:r>
          </a:p>
          <a:p>
            <a:pPr lvl="1"/>
            <a:r>
              <a:rPr lang="en-US" dirty="0"/>
              <a:t>Showed which features mattered most for the decision.</a:t>
            </a:r>
          </a:p>
          <a:p>
            <a:r>
              <a:rPr lang="en-US" dirty="0"/>
              <a:t>Model saved as rf_model.pkl (can be re-used later).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8401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1A862-C6E2-1903-F47D-E3F9EACDE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Generated Results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E4650EB-20D9-64E8-40BB-8BEE6326F6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2888" y="1583403"/>
            <a:ext cx="7826223" cy="476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7778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633BB-036E-60C2-7367-3F829CFEB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/>
              <a:t>Understanding Random Forest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32D31-2F8E-75B0-863E-D2B19DE31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Public dataset: “satimage” from OpenML.</a:t>
            </a:r>
          </a:p>
          <a:p>
            <a:r>
              <a:rPr lang="en-US" sz="1800" dirty="0"/>
              <a:t>Real satellite images: each data sample describes one small region of Earth’s surface, with various numerical features extracted from the image</a:t>
            </a:r>
          </a:p>
          <a:p>
            <a:r>
              <a:rPr lang="en-US" sz="1800" dirty="0"/>
              <a:t>Random Forest learned to classify </a:t>
            </a:r>
            <a:r>
              <a:rPr lang="en-US" sz="1800" i="1" dirty="0"/>
              <a:t>what kind of surface</a:t>
            </a:r>
            <a:r>
              <a:rPr lang="en-US" sz="1800" dirty="0"/>
              <a:t> that region is (for example, soil, vegetation, water, etc.).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880E869-0DA9-F355-DD0F-16784F451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304383"/>
              </p:ext>
            </p:extLst>
          </p:nvPr>
        </p:nvGraphicFramePr>
        <p:xfrm>
          <a:off x="1367913" y="3429000"/>
          <a:ext cx="9456174" cy="2560320"/>
        </p:xfrm>
        <a:graphic>
          <a:graphicData uri="http://schemas.openxmlformats.org/drawingml/2006/table">
            <a:tbl>
              <a:tblPr/>
              <a:tblGrid>
                <a:gridCol w="4728087">
                  <a:extLst>
                    <a:ext uri="{9D8B030D-6E8A-4147-A177-3AD203B41FA5}">
                      <a16:colId xmlns:a16="http://schemas.microsoft.com/office/drawing/2014/main" val="1162030533"/>
                    </a:ext>
                  </a:extLst>
                </a:gridCol>
                <a:gridCol w="4728087">
                  <a:extLst>
                    <a:ext uri="{9D8B030D-6E8A-4147-A177-3AD203B41FA5}">
                      <a16:colId xmlns:a16="http://schemas.microsoft.com/office/drawing/2014/main" val="614990607"/>
                    </a:ext>
                  </a:extLst>
                </a:gridCol>
              </a:tblGrid>
              <a:tr h="177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Class Label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Type of Surface (example meaning)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0156558"/>
                  </a:ext>
                </a:extLst>
              </a:tr>
              <a:tr h="177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Red soil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082435"/>
                  </a:ext>
                </a:extLst>
              </a:tr>
              <a:tr h="177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Cotton crop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3262659"/>
                  </a:ext>
                </a:extLst>
              </a:tr>
              <a:tr h="177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Grey soil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978851"/>
                  </a:ext>
                </a:extLst>
              </a:tr>
              <a:tr h="177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Damp grey soil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034879"/>
                  </a:ext>
                </a:extLst>
              </a:tr>
              <a:tr h="177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Soil with vegetation stubble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2233481"/>
                  </a:ext>
                </a:extLst>
              </a:tr>
              <a:tr h="177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Very damp grey soil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816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50816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CBFE1-5661-2289-B7FE-8407827A8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/>
              <a:t>Understanding Random Forest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AE2B1-400D-274B-F4EC-82214237F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Each input row contained 36 numerical features, like:</a:t>
            </a:r>
          </a:p>
          <a:p>
            <a:pPr lvl="1"/>
            <a:r>
              <a:rPr lang="en-US" sz="1600" dirty="0"/>
              <a:t>Average intensity in different spectral bands (Red, Green, Blue, NIR)</a:t>
            </a:r>
          </a:p>
          <a:p>
            <a:pPr lvl="1"/>
            <a:r>
              <a:rPr lang="en-US" sz="1600" dirty="0"/>
              <a:t>Ratios between color bands</a:t>
            </a:r>
          </a:p>
          <a:p>
            <a:pPr lvl="1"/>
            <a:r>
              <a:rPr lang="en-US" sz="1600" dirty="0"/>
              <a:t>Statistical measures (mean, variance, etc.) </a:t>
            </a:r>
          </a:p>
          <a:p>
            <a:r>
              <a:rPr lang="en-US" sz="1800" dirty="0"/>
              <a:t>“Here are 36 features of many samples, and their correct classes. Learn the pattern so you can predict the class for new samples.”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0C8D06-6CD3-8A1B-681E-03C18A57CE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92062"/>
              </p:ext>
            </p:extLst>
          </p:nvPr>
        </p:nvGraphicFramePr>
        <p:xfrm>
          <a:off x="2592028" y="3566795"/>
          <a:ext cx="7007943" cy="2926080"/>
        </p:xfrm>
        <a:graphic>
          <a:graphicData uri="http://schemas.openxmlformats.org/drawingml/2006/table">
            <a:tbl>
              <a:tblPr/>
              <a:tblGrid>
                <a:gridCol w="2335981">
                  <a:extLst>
                    <a:ext uri="{9D8B030D-6E8A-4147-A177-3AD203B41FA5}">
                      <a16:colId xmlns:a16="http://schemas.microsoft.com/office/drawing/2014/main" val="1031600280"/>
                    </a:ext>
                  </a:extLst>
                </a:gridCol>
                <a:gridCol w="4463682">
                  <a:extLst>
                    <a:ext uri="{9D8B030D-6E8A-4147-A177-3AD203B41FA5}">
                      <a16:colId xmlns:a16="http://schemas.microsoft.com/office/drawing/2014/main" val="128655134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8250913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050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Precision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Out of all samples the model </a:t>
                      </a:r>
                      <a:r>
                        <a:rPr lang="en-US" i="1" dirty="0"/>
                        <a:t>predicted</a:t>
                      </a:r>
                      <a:r>
                        <a:rPr lang="en-US" dirty="0"/>
                        <a:t> as this class, how many were </a:t>
                      </a:r>
                      <a:r>
                        <a:rPr lang="en-US" i="1" dirty="0"/>
                        <a:t>actually</a:t>
                      </a:r>
                      <a:r>
                        <a:rPr lang="en-US" dirty="0"/>
                        <a:t> correct?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Recall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Out of all samples that </a:t>
                      </a:r>
                      <a:r>
                        <a:rPr lang="en-US" i="1" dirty="0"/>
                        <a:t>actually belonged</a:t>
                      </a:r>
                      <a:r>
                        <a:rPr lang="en-US" dirty="0"/>
                        <a:t> to this class, how many did the model find correctly?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282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F1-score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Combines precision and recall into one value (the balance between them).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108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Support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Number of actual test samples for that class.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81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12388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5F2BB-079D-D0AA-93AF-790118EA3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/>
              <a:t>Understanding Random Forest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6D3D5-4CA8-C715-70D1-4C1C76693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Confusion Matrix: </a:t>
            </a:r>
            <a:r>
              <a:rPr lang="en-US" dirty="0"/>
              <a:t>A simple table that shows what the model predicted vs what was actually correct.</a:t>
            </a:r>
          </a:p>
          <a:p>
            <a:r>
              <a:rPr lang="en-US" dirty="0"/>
              <a:t>Each row = actual class, Each column = predicted class.</a:t>
            </a:r>
          </a:p>
          <a:p>
            <a:r>
              <a:rPr lang="en-US" dirty="0"/>
              <a:t>First row (Class 0): [302   1   1   0   2   0]</a:t>
            </a:r>
          </a:p>
          <a:p>
            <a:pPr lvl="1"/>
            <a:r>
              <a:rPr lang="en-US" dirty="0"/>
              <a:t>302 were correctly predicted as Class 0 </a:t>
            </a:r>
          </a:p>
          <a:p>
            <a:pPr lvl="1"/>
            <a:r>
              <a:rPr lang="en-US" dirty="0"/>
              <a:t>1 was wrongly predicted as Class 1</a:t>
            </a:r>
          </a:p>
          <a:p>
            <a:pPr lvl="1"/>
            <a:r>
              <a:rPr lang="en-US" dirty="0"/>
              <a:t>1 was wrongly predicted as Class 2 </a:t>
            </a:r>
          </a:p>
          <a:p>
            <a:pPr lvl="1"/>
            <a:r>
              <a:rPr lang="en-US" dirty="0"/>
              <a:t>2 were wrongly predicted as Class 4</a:t>
            </a:r>
          </a:p>
          <a:p>
            <a:pPr lvl="1"/>
            <a:r>
              <a:rPr lang="en-US" dirty="0"/>
              <a:t>Total = 306 (same as support)</a:t>
            </a:r>
          </a:p>
          <a:p>
            <a:r>
              <a:rPr lang="en-US" dirty="0"/>
              <a:t>Feature Importances: These numbers show how much each input feature influenced the final decision.</a:t>
            </a:r>
          </a:p>
          <a:p>
            <a:pPr lvl="1"/>
            <a:r>
              <a:rPr lang="en-US" dirty="0"/>
              <a:t>Higher number = that feature helped the model split the data better in the trees.</a:t>
            </a:r>
          </a:p>
          <a:p>
            <a:pPr lvl="1"/>
            <a:r>
              <a:rPr lang="en-US" dirty="0"/>
              <a:t>The output shows the first 10 importance values. But, we’re only seeing numbers, their corresponding feature names can be printed by adding a small code.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46067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44294-1F90-BB7B-7841-CF4450EC9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Reinforcement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21B13-EEFC-BDBC-E285-07D81DC12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RL is like trial and error learning where the system teaches itself what to do by interacting with its environment, it learns from experience and reward signals.</a:t>
            </a:r>
          </a:p>
          <a:p>
            <a:r>
              <a:rPr lang="en-US" dirty="0"/>
              <a:t>The agent starts with no knowledge. It doesn’t know which actions are good or bad.</a:t>
            </a:r>
          </a:p>
          <a:p>
            <a:r>
              <a:rPr lang="en-US" dirty="0"/>
              <a:t>Agent takes an action, environment gives feedback: </a:t>
            </a:r>
            <a:br>
              <a:rPr lang="en-US" dirty="0"/>
            </a:br>
            <a:r>
              <a:rPr lang="en-US" dirty="0"/>
              <a:t>The agent receives a reward (positive or negative).</a:t>
            </a:r>
            <a:br>
              <a:rPr lang="en-US" dirty="0"/>
            </a:br>
            <a:r>
              <a:rPr lang="en-US" dirty="0"/>
              <a:t>Example: Low delay = +1 reward, Link failure = −1 reward</a:t>
            </a:r>
          </a:p>
          <a:p>
            <a:r>
              <a:rPr lang="en-US" dirty="0"/>
              <a:t>Agent learns from that feedback: It updates what it “believes” about that action in that situation.</a:t>
            </a:r>
          </a:p>
          <a:p>
            <a:r>
              <a:rPr lang="en-US" dirty="0"/>
              <a:t>Good actions get higher value, bad ones get lower value.</a:t>
            </a:r>
          </a:p>
          <a:p>
            <a:r>
              <a:rPr lang="en-US" dirty="0"/>
              <a:t>Agent repeats this process thousands of times. Finally, it forms a policy </a:t>
            </a:r>
          </a:p>
          <a:p>
            <a:r>
              <a:rPr lang="en-US" dirty="0"/>
              <a:t>“If I’m in this state, this action gives me the best long-term reward.”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09324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73FC3-62B5-EDFE-B1FB-FBD38D34C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Q-Learning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D3447-9F75-DEE3-9CD2-592B39841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Q-Learning is a type of RL that uses a Q-table.</a:t>
            </a:r>
          </a:p>
          <a:p>
            <a:r>
              <a:rPr lang="en-US" dirty="0"/>
              <a:t>The Q-table stores the quality of each action.</a:t>
            </a:r>
          </a:p>
          <a:p>
            <a:r>
              <a:rPr lang="en-US" dirty="0"/>
              <a:t>The agent updates these values based on the reward it gets.</a:t>
            </a:r>
          </a:p>
          <a:p>
            <a:r>
              <a:rPr lang="en-US" dirty="0"/>
              <a:t>Formula: new value = current reward + expected future best reward</a:t>
            </a:r>
          </a:p>
          <a:p>
            <a:r>
              <a:rPr lang="en-US" dirty="0"/>
              <a:t>Slowly, the Q-table becomes stable. The agent can now choose the best action in any situation. </a:t>
            </a:r>
          </a:p>
          <a:p>
            <a:r>
              <a:rPr lang="en-US" dirty="0"/>
              <a:t>It doesn’t need to know how the environment works: only the results of its actions.</a:t>
            </a:r>
          </a:p>
          <a:p>
            <a:r>
              <a:rPr lang="en-US" dirty="0"/>
              <a:t>RL in NTN Routing:</a:t>
            </a:r>
          </a:p>
          <a:p>
            <a:pPr lvl="1"/>
            <a:r>
              <a:rPr lang="en-US" dirty="0"/>
              <a:t>The satellite (agent) can learn which neighbor link (action) gives the best result.</a:t>
            </a:r>
          </a:p>
          <a:p>
            <a:pPr lvl="1"/>
            <a:r>
              <a:rPr lang="en-US" dirty="0"/>
              <a:t>Reward = lower delay, fewer losses, or higher throughput.</a:t>
            </a:r>
          </a:p>
          <a:p>
            <a:pPr lvl="1"/>
            <a:r>
              <a:rPr lang="en-US" dirty="0"/>
              <a:t>After many transmissions, it learns optimal routing paths automatically.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10035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298F7-75B6-C751-5376-7B9C04DFF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/>
              <a:t>Q-Learning (Our example Model)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91A16-9A0F-80C5-3521-D6B7D6737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Used a small grid world (Frozen Lake) as our environment.</a:t>
            </a:r>
          </a:p>
          <a:p>
            <a:r>
              <a:rPr lang="en-US" sz="2000" dirty="0"/>
              <a:t>Each tile = a state. Actions = move up, down, left, right.</a:t>
            </a:r>
          </a:p>
          <a:p>
            <a:r>
              <a:rPr lang="en-US" sz="2000" dirty="0"/>
              <a:t>Goal tile = reward = +1, holes = reward = 0 or −1.</a:t>
            </a:r>
          </a:p>
          <a:p>
            <a:r>
              <a:rPr lang="en-US" sz="2000" dirty="0"/>
              <a:t>The agent starts exploring randomly (no knowledge). After each move, it updates its Q-table: Each entry in the table stores how good a specific action is in a given state.</a:t>
            </a:r>
          </a:p>
          <a:p>
            <a:r>
              <a:rPr lang="en-US" sz="2000" dirty="0"/>
              <a:t>Formula : Q(state, action) ← reward + future best reward</a:t>
            </a:r>
          </a:p>
          <a:p>
            <a:r>
              <a:rPr lang="en-US" sz="2000" dirty="0"/>
              <a:t>Over time, the Q-table fills with values showing which move is best from each position.</a:t>
            </a:r>
          </a:p>
          <a:p>
            <a:r>
              <a:rPr lang="en-US" sz="2000" dirty="0"/>
              <a:t>The agent starts choosing the best actions instead of random ones. </a:t>
            </a:r>
          </a:p>
          <a:p>
            <a:r>
              <a:rPr lang="en-US" sz="2000" dirty="0"/>
              <a:t>After enough training, it always reaches the goal (win rate = 1.0).</a:t>
            </a:r>
          </a:p>
          <a:p>
            <a:r>
              <a:rPr lang="en-US" sz="2000" dirty="0"/>
              <a:t>This shows how RL can be used in routing, learning by trial and reward.</a:t>
            </a:r>
            <a:endParaRPr lang="en-US" sz="3200" dirty="0"/>
          </a:p>
          <a:p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7633429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2557E-AD8F-5FCE-80D3-09484D509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57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dirty="0"/>
              <a:t>Understanding Q-Learning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B69CB9-E6C1-715E-5F83-296D8A0122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4895" y="1651359"/>
            <a:ext cx="3877713" cy="31664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E3E7E2-0C77-DA47-4D52-21B31ED6249B}"/>
              </a:ext>
            </a:extLst>
          </p:cNvPr>
          <p:cNvSpPr txBox="1"/>
          <p:nvPr/>
        </p:nvSpPr>
        <p:spPr>
          <a:xfrm>
            <a:off x="5978013" y="1904283"/>
            <a:ext cx="537578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Graph shows a smooth curve rising as agent learns. from 0 → 1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Early episodes: moving average is low because most rewards are failures.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Later episodes: moving average approaches 1 as agent consistently reaches goal.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Reward = 1 → agent reached the goal in that episode.</a:t>
            </a:r>
            <a:br>
              <a:rPr lang="en-US" sz="1600" dirty="0"/>
            </a:br>
            <a:r>
              <a:rPr lang="en-US" sz="1600" dirty="0"/>
              <a:t>Reward = -0.1 → agent fell into a hole before reaching goal (penalty we added).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So early on (like Episode 200), the agent is mostly exploring randomly. Sometimes it reaches the goal, sometimes it falls into a hole → reward varies.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Epsilon is your exploration rate: Probability of choosing a random action.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By Episode 1000+, epsilon ≈ 0.01 → agent almost always follows learned Q-values (greedy). This is why after Episode 1000, the agent consistently gets Reward = 1: it has learned the correct path to the goal.</a:t>
            </a:r>
            <a:endParaRPr lang="en-IN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C6A753-9DD9-D1BB-C058-F7895C5FC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60" y="4975123"/>
            <a:ext cx="5589379" cy="145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5441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756D0-6D0E-6808-A7F2-3E21A25D3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Q-Routing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1F35E-739B-22C9-BA40-1643C050E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Q-Routing is Q-Learning applied to a network.</a:t>
            </a:r>
          </a:p>
          <a:p>
            <a:r>
              <a:rPr lang="en-US" dirty="0"/>
              <a:t>Each node (satellite) acts as an agent. It learns which neighbor gives the best route to a destination. </a:t>
            </a:r>
          </a:p>
          <a:p>
            <a:r>
              <a:rPr lang="en-US" dirty="0"/>
              <a:t>Each node keeps a small Q-table:</a:t>
            </a:r>
          </a:p>
          <a:p>
            <a:pPr lvl="1"/>
            <a:r>
              <a:rPr lang="en-US" dirty="0"/>
              <a:t>Rows = possible destinations.</a:t>
            </a:r>
          </a:p>
          <a:p>
            <a:pPr lvl="1"/>
            <a:r>
              <a:rPr lang="en-US" dirty="0"/>
              <a:t>Columns = neighboring nodes.</a:t>
            </a:r>
          </a:p>
          <a:p>
            <a:pPr lvl="1"/>
            <a:r>
              <a:rPr lang="en-US" dirty="0"/>
              <a:t>Value = estimated delay or cost of sending through that neighbor.</a:t>
            </a:r>
          </a:p>
          <a:p>
            <a:r>
              <a:rPr lang="en-US" dirty="0"/>
              <a:t>When a packet is sent: The node picks the neighbor with the lowest Q-value (fastest route). </a:t>
            </a:r>
          </a:p>
          <a:p>
            <a:r>
              <a:rPr lang="en-US" dirty="0"/>
              <a:t>After receiving feedback: It updates the Q-table based on actual delay or success.</a:t>
            </a:r>
          </a:p>
          <a:p>
            <a:r>
              <a:rPr lang="en-US" dirty="0"/>
              <a:t>Over time: Each node’s Q-values improve as it sees more results.</a:t>
            </a:r>
          </a:p>
          <a:p>
            <a:r>
              <a:rPr lang="en-US" dirty="0"/>
              <a:t>The network self-learns optimal routes without a central controller.</a:t>
            </a:r>
          </a:p>
          <a:p>
            <a:r>
              <a:rPr lang="en-US" dirty="0"/>
              <a:t>If a link fails or congestion happens: The Q-values update automatically → nodes adapt to new paths quickly.</a:t>
            </a:r>
          </a:p>
          <a:p>
            <a:r>
              <a:rPr lang="en-US" dirty="0"/>
              <a:t>Over time, all nodes learn the fastest or most reliable routes.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75159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B8C4-47F6-F2E5-05F8-DA3EF3342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/>
              <a:t>Q-Routing (Our example Model)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955A1-04E8-1295-982B-6BEB75EA4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simulated a multi-node network where each node updates its Q-table.</a:t>
            </a:r>
          </a:p>
          <a:p>
            <a:r>
              <a:rPr lang="en-US" dirty="0"/>
              <a:t>Each node initially guesses delays to reach a destination through neighbors.</a:t>
            </a:r>
          </a:p>
          <a:p>
            <a:r>
              <a:rPr lang="en-US" dirty="0"/>
              <a:t>As packets are sent and acknowledged, actual delays are used to correct those guesses.</a:t>
            </a:r>
          </a:p>
          <a:p>
            <a:r>
              <a:rPr lang="en-US" dirty="0"/>
              <a:t>Eventually, each node learns:</a:t>
            </a:r>
          </a:p>
          <a:p>
            <a:pPr lvl="1"/>
            <a:r>
              <a:rPr lang="en-US" dirty="0"/>
              <a:t>“Neighbor X → faster route to destination Y.”</a:t>
            </a:r>
          </a:p>
          <a:p>
            <a:r>
              <a:rPr lang="en-US" dirty="0"/>
              <a:t>The network becomes self-optimizing: no global routing table needed.</a:t>
            </a:r>
          </a:p>
          <a:p>
            <a:r>
              <a:rPr lang="en-IN" dirty="0"/>
              <a:t>In NTN Routing:</a:t>
            </a:r>
          </a:p>
          <a:p>
            <a:pPr lvl="1"/>
            <a:r>
              <a:rPr lang="en-IN" dirty="0"/>
              <a:t>In LEO or UAV constellations, links change constantly. Centralized control is difficult.</a:t>
            </a:r>
          </a:p>
          <a:p>
            <a:pPr lvl="1"/>
            <a:r>
              <a:rPr lang="en-IN" dirty="0"/>
              <a:t>Q-Routing allows each node to autonomously adapt to link changes.</a:t>
            </a:r>
          </a:p>
          <a:p>
            <a:pPr lvl="1"/>
            <a:r>
              <a:rPr lang="en-IN" dirty="0"/>
              <a:t>Reduces delay, avoids congestion, and improves reliability.</a:t>
            </a:r>
          </a:p>
        </p:txBody>
      </p:sp>
    </p:spTree>
    <p:extLst>
      <p:ext uri="{BB962C8B-B14F-4D97-AF65-F5344CB8AC3E}">
        <p14:creationId xmlns:p14="http://schemas.microsoft.com/office/powerpoint/2010/main" val="6160877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6FA0E-6892-95B0-4E81-463DFF040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Understanding Q-Routing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F0C812-6AFD-01CB-A1F2-DE63130218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5122"/>
            <a:ext cx="5257800" cy="39930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049615-4659-F08A-1B04-54C4EECE2369}"/>
              </a:ext>
            </a:extLst>
          </p:cNvPr>
          <p:cNvSpPr txBox="1"/>
          <p:nvPr/>
        </p:nvSpPr>
        <p:spPr>
          <a:xfrm>
            <a:off x="6096000" y="1855122"/>
            <a:ext cx="525780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Network edges: Shows the initial random link weights (delays) between nodes.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Each number is like the cost of sending data through that link.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Learned best next-hops: This is the main result.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Each line means: “From node X, to reach destination Y, send via neighbor Z.”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The “est cost” is the learned (predicted) minimum delay or hop cost.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 simple words, every node has learned the best neighbor to forward packets to each destination.</a:t>
            </a:r>
          </a:p>
        </p:txBody>
      </p:sp>
    </p:spTree>
    <p:extLst>
      <p:ext uri="{BB962C8B-B14F-4D97-AF65-F5344CB8AC3E}">
        <p14:creationId xmlns:p14="http://schemas.microsoft.com/office/powerpoint/2010/main" val="1947229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1762</TotalTime>
  <Words>2991</Words>
  <Application>Microsoft Office PowerPoint</Application>
  <PresentationFormat>Widescreen</PresentationFormat>
  <Paragraphs>292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Office Theme</vt:lpstr>
      <vt:lpstr>Non-Terrestrial Networks (in 6G)</vt:lpstr>
      <vt:lpstr>What are NTNs?</vt:lpstr>
      <vt:lpstr>Why NTNs?</vt:lpstr>
      <vt:lpstr>NTN Platforms</vt:lpstr>
      <vt:lpstr>NTN Platforms</vt:lpstr>
      <vt:lpstr>Requirements of NTNs</vt:lpstr>
      <vt:lpstr>Research Areas in NTNs</vt:lpstr>
      <vt:lpstr>Resource Allocation</vt:lpstr>
      <vt:lpstr>Network Routing</vt:lpstr>
      <vt:lpstr>Routing in 6G NTN</vt:lpstr>
      <vt:lpstr>Centralized Routing</vt:lpstr>
      <vt:lpstr>Distributed Routing</vt:lpstr>
      <vt:lpstr>Hybrid Routing</vt:lpstr>
      <vt:lpstr>PowerPoint Presentation</vt:lpstr>
      <vt:lpstr>PowerPoint Presentation</vt:lpstr>
      <vt:lpstr>Routing Parameters in NetSim</vt:lpstr>
      <vt:lpstr>Random Forest</vt:lpstr>
      <vt:lpstr>Random Forest (Our example Model)</vt:lpstr>
      <vt:lpstr>Generated Results</vt:lpstr>
      <vt:lpstr>Understanding Random Forest Results</vt:lpstr>
      <vt:lpstr>Understanding Random Forest Results</vt:lpstr>
      <vt:lpstr>Understanding Random Forest Results</vt:lpstr>
      <vt:lpstr>Reinforcement Learning</vt:lpstr>
      <vt:lpstr>Q-Learning</vt:lpstr>
      <vt:lpstr>Q-Learning (Our example Model)</vt:lpstr>
      <vt:lpstr>Understanding Q-Learning Results</vt:lpstr>
      <vt:lpstr>Q-Routing</vt:lpstr>
      <vt:lpstr>Q-Routing (Our example Model)</vt:lpstr>
      <vt:lpstr>Understanding Q-Routing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Vinay Kusumanchi</dc:creator>
  <cp:lastModifiedBy>Vinay Kusumanchi</cp:lastModifiedBy>
  <cp:revision>1</cp:revision>
  <dcterms:created xsi:type="dcterms:W3CDTF">2025-08-20T03:16:45Z</dcterms:created>
  <dcterms:modified xsi:type="dcterms:W3CDTF">2025-12-14T13:56:35Z</dcterms:modified>
</cp:coreProperties>
</file>